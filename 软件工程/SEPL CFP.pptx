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4671" r:id="rId3"/>
    <p:sldId id="4681" r:id="rId4"/>
    <p:sldId id="4674" r:id="rId5"/>
    <p:sldId id="4676" r:id="rId6"/>
    <p:sldId id="4677" r:id="rId7"/>
    <p:sldId id="4679" r:id="rId8"/>
    <p:sldId id="4675" r:id="rId9"/>
    <p:sldId id="4678" r:id="rId10"/>
    <p:sldId id="4682" r:id="rId11"/>
    <p:sldId id="4683" r:id="rId12"/>
    <p:sldId id="322" r:id="rId1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Qian" initials="C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40"/>
    <p:restoredTop sz="83817"/>
  </p:normalViewPr>
  <p:slideViewPr>
    <p:cSldViewPr snapToGrid="0" snapToObjects="1" showGuides="1">
      <p:cViewPr varScale="1">
        <p:scale>
          <a:sx n="100" d="100"/>
          <a:sy n="100" d="100"/>
        </p:scale>
        <p:origin x="2008" y="168"/>
      </p:cViewPr>
      <p:guideLst>
        <p:guide orient="horz" pos="2160"/>
        <p:guide pos="3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A9944-4B32-5F4F-A4E9-236571BACEDB}" type="datetimeFigureOut">
              <a:rPr kumimoji="1" lang="zh-CN" altLang="en-US" smtClean="0"/>
              <a:t>2026/10/16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8E814-3A8C-1B41-A629-02BB3247CC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FA635-CF72-1A40-AA9C-1149F729B8CA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5481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DF2B-6610-B072-A75A-9923CFF36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A28EC-3279-2BEA-F880-50D5B4248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2E5AC-5156-D2F1-B51E-8F61300B0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1BA30-CE30-CCE0-32A2-F2B5CF073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FA635-CF72-1A40-AA9C-1149F729B8CA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5456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117F-4B69-E2F1-71D9-DD46A77C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B0192-CA0E-2093-3AC1-303041EC8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84C82-46D7-12F5-11A1-E95E0A5D8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CEF69-2D33-2E7F-3ADC-642817C71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FA635-CF72-1A40-AA9C-1149F729B8CA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3984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D7CAF-B9D9-366D-11A6-D0025B2DA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B991A-72C9-384D-6E5F-6038A7826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2E061-0419-B233-A0BF-145A3BD62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AA8AC-C943-4223-4E00-B0759DEF4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FA635-CF72-1A40-AA9C-1149F729B8CA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5106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CE79-F056-C55C-9167-C946B1D28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B5A4B-EB03-41D4-2C34-81E8AF13F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FAF62-FBA5-32C8-7BCB-B16D7226E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F5BE1-ACB8-992A-39EC-EAA3C7714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FA635-CF72-1A40-AA9C-1149F729B8CA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7159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E814-3A8C-1B41-A629-02BB3247CCB7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7" y="815297"/>
            <a:ext cx="9144000" cy="2387600"/>
          </a:xfrm>
        </p:spPr>
        <p:txBody>
          <a:bodyPr anchor="b"/>
          <a:lstStyle>
            <a:lvl1pPr algn="ctr">
              <a:defRPr sz="4500">
                <a:latin typeface="DengXian"/>
                <a:ea typeface="Hiragino Sans GB W3" panose="020B0300000000000000" pitchFamily="34" charset="-128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97" y="3294973"/>
            <a:ext cx="9144000" cy="1342635"/>
          </a:xfrm>
        </p:spPr>
        <p:txBody>
          <a:bodyPr/>
          <a:lstStyle>
            <a:lvl1pPr marL="0" indent="0" algn="ctr">
              <a:buNone/>
              <a:defRPr sz="1800">
                <a:latin typeface="Hiragino Sans GB W3" panose="020B0300000000000000" pitchFamily="34" charset="-128"/>
                <a:ea typeface="Hiragino Sans GB W3" panose="020B0300000000000000" pitchFamily="34" charset="-128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082" y="5684785"/>
            <a:ext cx="1564740" cy="72323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05" y="246392"/>
            <a:ext cx="3195145" cy="94103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394" y="208241"/>
            <a:ext cx="2438693" cy="98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51887"/>
            <a:ext cx="10515600" cy="925222"/>
          </a:xfrm>
          <a:noFill/>
        </p:spPr>
        <p:txBody>
          <a:bodyPr>
            <a:normAutofit/>
          </a:bodyPr>
          <a:lstStyle>
            <a:lvl1pPr algn="l">
              <a:defRPr sz="3200" baseline="0">
                <a:solidFill>
                  <a:srgbClr val="C00000"/>
                </a:solidFill>
                <a:latin typeface="CMU Sans Serif" panose="02000603000000000000" pitchFamily="2" charset="0"/>
                <a:ea typeface="Hiragino Sans GB W3" panose="020B0300000000000000" pitchFamily="34" charset="-128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623195"/>
            <a:ext cx="10515600" cy="4733156"/>
          </a:xfrm>
        </p:spPr>
        <p:txBody>
          <a:bodyPr/>
          <a:lstStyle>
            <a:lvl1pPr>
              <a:spcBef>
                <a:spcPts val="600"/>
              </a:spcBef>
              <a:defRPr sz="220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600"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03B14DC-E696-9A47-8DD1-33B85C3E814B}" type="datetime1">
              <a:rPr lang="zh-CN" altLang="en-US" smtClean="0"/>
              <a:t>2026/10/16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613025"/>
          </a:xfrm>
        </p:spPr>
        <p:txBody>
          <a:bodyPr anchor="b">
            <a:normAutofit/>
          </a:bodyPr>
          <a:lstStyle>
            <a:lvl1pPr algn="ctr">
              <a:defRPr sz="4000">
                <a:latin typeface="Hiragino Sans GB W3" panose="020B0300000000000000" pitchFamily="34" charset="-128"/>
                <a:ea typeface="Hiragino Sans GB W3" panose="020B0300000000000000" pitchFamily="34" charset="-128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6016" y="2828690"/>
            <a:ext cx="5118763" cy="1200623"/>
          </a:xfrm>
        </p:spPr>
        <p:txBody>
          <a:bodyPr anchor="b">
            <a:normAutofit/>
          </a:bodyPr>
          <a:lstStyle>
            <a:lvl1pPr algn="ctr">
              <a:defRPr sz="3200">
                <a:latin typeface="Hiragino Sans GB W3" panose="020B0300000000000000" pitchFamily="34" charset="-128"/>
                <a:ea typeface="Hiragino Sans GB W3" panose="020B0300000000000000" pitchFamily="34" charset="-128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546016" y="4311903"/>
            <a:ext cx="5118763" cy="15001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546016" y="2295626"/>
            <a:ext cx="511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技术工作陈述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451544" y="4541175"/>
            <a:ext cx="5722375" cy="1663324"/>
            <a:chOff x="222911" y="4737945"/>
            <a:chExt cx="4291781" cy="1663324"/>
          </a:xfrm>
        </p:grpSpPr>
        <p:sp>
          <p:nvSpPr>
            <p:cNvPr id="27" name="矩形 26"/>
            <p:cNvSpPr/>
            <p:nvPr/>
          </p:nvSpPr>
          <p:spPr>
            <a:xfrm>
              <a:off x="222911" y="4737945"/>
              <a:ext cx="4291781" cy="1663324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1" name="矩形 70"/>
            <p:cNvSpPr/>
            <p:nvPr/>
          </p:nvSpPr>
          <p:spPr>
            <a:xfrm>
              <a:off x="1795810" y="5947193"/>
              <a:ext cx="2513270" cy="2769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lt1"/>
                  </a:solidFill>
                </a:rPr>
                <a:t>访存依赖的定义与性质</a:t>
              </a:r>
              <a:endParaRPr lang="en-US" sz="1200" dirty="0">
                <a:solidFill>
                  <a:schemeClr val="accent5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22912" y="5239307"/>
              <a:ext cx="156871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/>
                <a:t>访存依赖的</a:t>
              </a:r>
              <a:endParaRPr lang="en-US" altLang="zh-CN" sz="2000" dirty="0"/>
            </a:p>
            <a:p>
              <a:pPr algn="ctr"/>
              <a:r>
                <a:rPr lang="zh-CN" altLang="en-US" sz="2000" dirty="0"/>
                <a:t>研究框架</a:t>
              </a:r>
              <a:endParaRPr lang="en-US" sz="2000" dirty="0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2096813" y="4846946"/>
              <a:ext cx="2037188" cy="981953"/>
              <a:chOff x="2170434" y="5097242"/>
              <a:chExt cx="1559841" cy="751865"/>
            </a:xfrm>
          </p:grpSpPr>
          <p:cxnSp>
            <p:nvCxnSpPr>
              <p:cNvPr id="10" name="直接箭头连接符 9"/>
              <p:cNvCxnSpPr/>
              <p:nvPr/>
            </p:nvCxnSpPr>
            <p:spPr>
              <a:xfrm flipV="1">
                <a:off x="2170434" y="5097242"/>
                <a:ext cx="741377" cy="751865"/>
              </a:xfrm>
              <a:prstGeom prst="straightConnector1">
                <a:avLst/>
              </a:prstGeom>
              <a:ln w="19050">
                <a:headEnd w="lg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/>
              <p:nvPr/>
            </p:nvCxnSpPr>
            <p:spPr>
              <a:xfrm flipV="1">
                <a:off x="2170434" y="5124463"/>
                <a:ext cx="0" cy="715845"/>
              </a:xfrm>
              <a:prstGeom prst="straightConnector1">
                <a:avLst/>
              </a:prstGeom>
              <a:ln w="19050">
                <a:headEnd w="lg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立方体 19"/>
              <p:cNvSpPr/>
              <p:nvPr/>
            </p:nvSpPr>
            <p:spPr>
              <a:xfrm>
                <a:off x="2173045" y="5139326"/>
                <a:ext cx="1554024" cy="706881"/>
              </a:xfrm>
              <a:prstGeom prst="cube">
                <a:avLst>
                  <a:gd name="adj" fmla="val 42839"/>
                </a:avLst>
              </a:prstGeom>
              <a:solidFill>
                <a:schemeClr val="accent1">
                  <a:alpha val="2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cxnSp>
            <p:nvCxnSpPr>
              <p:cNvPr id="21" name="直接箭头连接符 20"/>
              <p:cNvCxnSpPr/>
              <p:nvPr/>
            </p:nvCxnSpPr>
            <p:spPr>
              <a:xfrm>
                <a:off x="2170434" y="5849106"/>
                <a:ext cx="1559841" cy="0"/>
              </a:xfrm>
              <a:prstGeom prst="straightConnector1">
                <a:avLst/>
              </a:prstGeom>
              <a:ln w="19050">
                <a:headEnd w="lg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组合 30"/>
          <p:cNvGrpSpPr/>
          <p:nvPr/>
        </p:nvGrpSpPr>
        <p:grpSpPr>
          <a:xfrm>
            <a:off x="451544" y="2753729"/>
            <a:ext cx="5722375" cy="1524136"/>
            <a:chOff x="222911" y="2950499"/>
            <a:chExt cx="4291781" cy="1524136"/>
          </a:xfrm>
        </p:grpSpPr>
        <p:sp>
          <p:nvSpPr>
            <p:cNvPr id="59" name="矩形 58"/>
            <p:cNvSpPr/>
            <p:nvPr/>
          </p:nvSpPr>
          <p:spPr>
            <a:xfrm>
              <a:off x="222911" y="2950499"/>
              <a:ext cx="4291781" cy="1524136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" name="矩形 27"/>
            <p:cNvSpPr/>
            <p:nvPr/>
          </p:nvSpPr>
          <p:spPr>
            <a:xfrm>
              <a:off x="2336610" y="3163789"/>
              <a:ext cx="1615437" cy="4924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/>
                <a:t>乐观锁</a:t>
              </a:r>
              <a:endParaRPr lang="en-US" altLang="zh-CN" sz="1400" dirty="0"/>
            </a:p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利用线程局部性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541033" y="3764164"/>
              <a:ext cx="1212111" cy="4924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zh-CN" altLang="en-US" sz="1400" dirty="0"/>
                <a:t>二分组协议</a:t>
              </a:r>
              <a:endParaRPr lang="en-US" altLang="zh-CN" sz="1400" dirty="0"/>
            </a:p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利用空间</a:t>
              </a:r>
              <a:r>
                <a:rPr lang="en-US" altLang="zh-CN" sz="1200" dirty="0">
                  <a:solidFill>
                    <a:schemeClr val="bg1"/>
                  </a:solidFill>
                </a:rPr>
                <a:t>-</a:t>
              </a:r>
              <a:r>
                <a:rPr lang="zh-CN" altLang="en-US" sz="1200" dirty="0">
                  <a:solidFill>
                    <a:schemeClr val="bg1"/>
                  </a:solidFill>
                </a:rPr>
                <a:t>线程局部性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222911" y="3262032"/>
              <a:ext cx="1556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/>
                <a:t>访存依赖的</a:t>
              </a:r>
              <a:endParaRPr lang="en-US" altLang="zh-CN" sz="2000" dirty="0"/>
            </a:p>
            <a:p>
              <a:pPr algn="ctr"/>
              <a:r>
                <a:rPr lang="zh-CN" altLang="en-US" sz="2000" dirty="0"/>
                <a:t>获取技术</a:t>
              </a:r>
              <a:endParaRPr lang="en-US" sz="2000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51544" y="798978"/>
            <a:ext cx="5722375" cy="1663324"/>
            <a:chOff x="136101" y="1023865"/>
            <a:chExt cx="4291781" cy="1663324"/>
          </a:xfrm>
        </p:grpSpPr>
        <p:sp>
          <p:nvSpPr>
            <p:cNvPr id="63" name="矩形 62"/>
            <p:cNvSpPr/>
            <p:nvPr/>
          </p:nvSpPr>
          <p:spPr>
            <a:xfrm>
              <a:off x="136101" y="1023865"/>
              <a:ext cx="4291781" cy="1663324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6101" y="1542928"/>
              <a:ext cx="17891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/>
                <a:t>基于访存依赖</a:t>
              </a:r>
              <a:endParaRPr lang="en-US" altLang="zh-CN" sz="2000" dirty="0"/>
            </a:p>
            <a:p>
              <a:pPr algn="ctr"/>
              <a:r>
                <a:rPr lang="zh-CN" altLang="en-US" sz="2000" dirty="0"/>
                <a:t>的动态分析</a:t>
              </a:r>
              <a:endParaRPr lang="en-US" sz="2000" dirty="0"/>
            </a:p>
          </p:txBody>
        </p:sp>
        <p:sp>
          <p:nvSpPr>
            <p:cNvPr id="65" name="矩形 64"/>
            <p:cNvSpPr/>
            <p:nvPr/>
          </p:nvSpPr>
          <p:spPr>
            <a:xfrm>
              <a:off x="2825594" y="1943551"/>
              <a:ext cx="673526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数据竞争检测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1883612" y="1943551"/>
              <a:ext cx="848809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崩溃一致性检测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2627945" y="1375241"/>
              <a:ext cx="801017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移动应用缺陷暴露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900603" y="1375241"/>
              <a:ext cx="530120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执行重放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3592293" y="1943551"/>
              <a:ext cx="740779" cy="2769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层次调度器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626185" y="1375241"/>
              <a:ext cx="696409" cy="4616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假共享检测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7EA72C-62EE-B04E-9259-858C908A4F04}" type="datetime1">
              <a:rPr lang="zh-CN" altLang="en-US" smtClean="0"/>
              <a:t>2026/10/16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847EFD8-0A88-0247-91AE-842B6DDCFA88}" type="datetime1">
              <a:rPr lang="zh-CN" altLang="en-US" smtClean="0"/>
              <a:t>2026/10/16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62F5702-0139-0347-ABCB-37DCEA5C657D}" type="datetime1">
              <a:rPr lang="zh-CN" altLang="en-US" smtClean="0"/>
              <a:t>2026/10/16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80B8945-E468-AF43-AB47-EBB957F8C557}" type="datetime1">
              <a:rPr lang="zh-CN" altLang="en-US" smtClean="0"/>
              <a:t>2026/10/16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0FC1BC1-CE9F-3D49-A447-D28E61930F51}" type="datetime1">
              <a:rPr lang="zh-CN" altLang="en-US" smtClean="0"/>
              <a:t>2026/10/16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83FD1B1-D9A6-F440-ADF5-0DAAAE8DFD9D}" type="datetime1">
              <a:rPr lang="zh-CN" altLang="en-US" smtClean="0"/>
              <a:t>2026/10/16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3404739-6200-6546-8864-BD84A313005E}" type="datetime1">
              <a:rPr lang="zh-CN" altLang="en-US" smtClean="0"/>
              <a:t>2026/10/16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7D0B955-EDB9-D342-8220-9EAD5B633556}" type="datetime1">
              <a:rPr lang="zh-CN" altLang="en-US" smtClean="0"/>
              <a:t>2026/10/16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43944" y="6356352"/>
            <a:ext cx="409857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400" b="1" baseline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erif" panose="02000603000000000000" pitchFamily="2" charset="0"/>
              </a:defRPr>
            </a:lvl1pPr>
          </a:lstStyle>
          <a:p>
            <a:fld id="{5AC3D451-A5ED-4B51-9776-FF081A65E8D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直接连接符 12"/>
          <p:cNvCxnSpPr/>
          <p:nvPr/>
        </p:nvCxnSpPr>
        <p:spPr>
          <a:xfrm flipH="1" flipV="1">
            <a:off x="822960" y="537210"/>
            <a:ext cx="8611053" cy="10478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09273" y="247905"/>
            <a:ext cx="879196" cy="40637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40359" y="187770"/>
            <a:ext cx="661293" cy="4997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spcAft>
          <a:spcPts val="500"/>
        </a:spcAft>
        <a:buFont typeface="Arial" panose="020B0604020202090204" pitchFamily="34" charset="0"/>
        <a:buChar char="•"/>
        <a:defRPr sz="2400" kern="1200" baseline="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500"/>
        </a:spcAft>
        <a:buFont typeface="Arial" panose="020B0604020202090204" pitchFamily="34" charset="0"/>
        <a:buChar char="•"/>
        <a:defRPr sz="2200" kern="1200" baseline="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500"/>
        </a:spcAft>
        <a:buFont typeface="Arial" panose="020B0604020202090204" pitchFamily="34" charset="0"/>
        <a:buChar char="•"/>
        <a:defRPr sz="2000" kern="1200" baseline="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500"/>
        </a:spcAft>
        <a:buFont typeface="Arial" panose="020B0604020202090204" pitchFamily="34" charset="0"/>
        <a:buChar char="•"/>
        <a:defRPr sz="1800" kern="1200" baseline="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500"/>
        </a:spcAft>
        <a:buFont typeface="Arial" panose="020B0604020202090204" pitchFamily="34" charset="0"/>
        <a:buChar char="•"/>
        <a:defRPr sz="1350" kern="1200" baseline="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39545" y="1709420"/>
            <a:ext cx="9438640" cy="193167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+mj-lt"/>
              </a:rPr>
              <a:t>SE/PL</a:t>
            </a:r>
            <a:r>
              <a:rPr lang="zh-CN" altLang="en-US" sz="4000" dirty="0">
                <a:latin typeface="+mj-lt"/>
              </a:rPr>
              <a:t> </a:t>
            </a:r>
            <a:r>
              <a:rPr lang="en-US" altLang="zh-CN" sz="4000" dirty="0">
                <a:latin typeface="+mj-lt"/>
              </a:rPr>
              <a:t>CFP</a:t>
            </a:r>
          </a:p>
        </p:txBody>
      </p:sp>
      <p:sp>
        <p:nvSpPr>
          <p:cNvPr id="5" name="副标题 2"/>
          <p:cNvSpPr txBox="1"/>
          <p:nvPr/>
        </p:nvSpPr>
        <p:spPr>
          <a:xfrm>
            <a:off x="1400391" y="4330515"/>
            <a:ext cx="9901396" cy="133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500"/>
              </a:spcAft>
              <a:buFont typeface="Arial" panose="020B0604020202090204" pitchFamily="34" charset="0"/>
              <a:buNone/>
              <a:defRPr sz="1800" kern="1200" baseline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spcAft>
                <a:spcPts val="500"/>
              </a:spcAft>
              <a:buFont typeface="Arial" panose="020B0604020202090204" pitchFamily="34" charset="0"/>
              <a:buNone/>
              <a:defRPr sz="15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spcAft>
                <a:spcPts val="500"/>
              </a:spcAft>
              <a:buFont typeface="Arial" panose="020B0604020202090204" pitchFamily="34" charset="0"/>
              <a:buNone/>
              <a:defRPr sz="135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spcAft>
                <a:spcPts val="500"/>
              </a:spcAft>
              <a:buFont typeface="Arial" panose="020B0604020202090204" pitchFamily="34" charset="0"/>
              <a:buNone/>
              <a:defRPr sz="12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spcAft>
                <a:spcPts val="500"/>
              </a:spcAft>
              <a:buFont typeface="Arial" panose="020B0604020202090204" pitchFamily="34" charset="0"/>
              <a:buNone/>
              <a:defRPr sz="1200" kern="1200" baseline="0">
                <a:solidFill>
                  <a:schemeClr val="tx1"/>
                </a:solidFill>
                <a:latin typeface="CMU Sans Serif" panose="02000603000000000000" pitchFamily="2" charset="0"/>
                <a:ea typeface="Hiragino Sans GB W3" panose="020B0300000000000000" pitchFamily="34" charset="-128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kumimoji="0" lang="en-US" b="1" dirty="0" err="1">
                <a:latin typeface="+mn-lt"/>
              </a:rPr>
              <a:t>王豫</a:t>
            </a:r>
            <a:endParaRPr kumimoji="0" lang="en-US" b="1" dirty="0">
              <a:latin typeface="+mn-lt"/>
            </a:endParaRPr>
          </a:p>
          <a:p>
            <a:pPr fontAlgn="auto"/>
            <a:r>
              <a:rPr kumimoji="0" lang="en-US" b="1" dirty="0" err="1">
                <a:latin typeface="+mn-lt"/>
              </a:rPr>
              <a:t>南京大学</a:t>
            </a:r>
            <a:endParaRPr kumimoji="0" lang="en-US" b="1" dirty="0">
              <a:latin typeface="+mn-lt"/>
            </a:endParaRPr>
          </a:p>
          <a:p>
            <a:pPr fontAlgn="auto"/>
            <a:r>
              <a:rPr kumimoji="0" lang="en-US" b="1" dirty="0" err="1">
                <a:latin typeface="+mn-lt"/>
              </a:rPr>
              <a:t>yuwang_cs@nju.edu.cn</a:t>
            </a:r>
            <a:endParaRPr kumimoji="0" lang="en-US" dirty="0">
              <a:latin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40418" y="129209"/>
            <a:ext cx="1918253" cy="1143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1887"/>
            <a:ext cx="10515600" cy="925222"/>
          </a:xfrm>
        </p:spPr>
        <p:txBody>
          <a:bodyPr/>
          <a:lstStyle/>
          <a:p>
            <a:r>
              <a:rPr lang="zh-CN" altLang="en-CN" dirty="0"/>
              <a:t>编译器</a:t>
            </a:r>
            <a:r>
              <a:rPr lang="zh-CN" altLang="en-US" dirty="0"/>
              <a:t>测试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1F686-00A9-52A0-6987-8A7615C7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194"/>
            <a:ext cx="10947400" cy="5234805"/>
          </a:xfrm>
        </p:spPr>
        <p:txBody>
          <a:bodyPr>
            <a:normAutofit/>
          </a:bodyPr>
          <a:lstStyle/>
          <a:p>
            <a:r>
              <a:rPr lang="zh-CN" altLang="en-US" dirty="0"/>
              <a:t>随机程序生成对编译器测试很重要</a:t>
            </a:r>
            <a:endParaRPr lang="en-US" altLang="zh-CN" dirty="0"/>
          </a:p>
          <a:p>
            <a:pPr lvl="1"/>
            <a:r>
              <a:rPr lang="zh-CN" altLang="en-US" dirty="0"/>
              <a:t>可能在编译原理课程里，测试提交的编译器都是这么测试的</a:t>
            </a:r>
            <a:endParaRPr lang="en-US" altLang="zh-CN" dirty="0"/>
          </a:p>
          <a:p>
            <a:pPr lvl="1"/>
            <a:r>
              <a:rPr lang="zh-CN" altLang="en-US" dirty="0"/>
              <a:t>所有同学写的编译器，编译同一个程序，输出同一个结果，结果不一致的编译器就是有</a:t>
            </a:r>
            <a:r>
              <a:rPr lang="en-US" altLang="zh-CN" dirty="0"/>
              <a:t>bug</a:t>
            </a:r>
          </a:p>
          <a:p>
            <a:endParaRPr lang="en-US" altLang="zh-CN" dirty="0"/>
          </a:p>
          <a:p>
            <a:r>
              <a:rPr lang="zh-CN" altLang="en-US" dirty="0"/>
              <a:t>生成的程序不能有未定义行为（</a:t>
            </a:r>
            <a:r>
              <a:rPr lang="en-US" altLang="zh-CN" dirty="0"/>
              <a:t>UB</a:t>
            </a:r>
            <a:r>
              <a:rPr lang="zh-CN" altLang="en-US" dirty="0"/>
              <a:t>），例如整数溢出</a:t>
            </a:r>
            <a:endParaRPr lang="en-US" altLang="zh-CN" dirty="0"/>
          </a:p>
          <a:p>
            <a:pPr lvl="1"/>
            <a:r>
              <a:rPr lang="en-US" altLang="zh-CN" dirty="0"/>
              <a:t>UB</a:t>
            </a:r>
            <a:r>
              <a:rPr lang="zh-CN" altLang="en-US" dirty="0"/>
              <a:t>会导致输出结果不确定</a:t>
            </a:r>
            <a:endParaRPr lang="en-US" altLang="zh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9199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ED431-F842-206B-F929-C80190D4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E6F23-D542-E4C3-7849-2D54FA8EA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1887"/>
            <a:ext cx="10515600" cy="925222"/>
          </a:xfrm>
        </p:spPr>
        <p:txBody>
          <a:bodyPr/>
          <a:lstStyle/>
          <a:p>
            <a:r>
              <a:rPr lang="zh-CN" altLang="en-CN" dirty="0"/>
              <a:t>编译器</a:t>
            </a:r>
            <a:r>
              <a:rPr lang="zh-CN" altLang="en-US" dirty="0"/>
              <a:t>测试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3A15-04E8-F3EC-CCD1-FADCAF2F7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194"/>
            <a:ext cx="10947400" cy="5234805"/>
          </a:xfrm>
        </p:spPr>
        <p:txBody>
          <a:bodyPr>
            <a:normAutofit/>
          </a:bodyPr>
          <a:lstStyle/>
          <a:p>
            <a:r>
              <a:rPr lang="zh-CN" altLang="en-US" dirty="0"/>
              <a:t>已有方法使用静态规则，例如</a:t>
            </a:r>
            <a:endParaRPr lang="en-US" altLang="zh-CN" dirty="0"/>
          </a:p>
          <a:p>
            <a:pPr lvl="1"/>
            <a:r>
              <a:rPr lang="zh-CN" altLang="en-US" dirty="0"/>
              <a:t>循环只生成</a:t>
            </a:r>
            <a:r>
              <a:rPr lang="en-US" altLang="zh-CN" dirty="0"/>
              <a:t>foreach</a:t>
            </a:r>
            <a:r>
              <a:rPr lang="zh-CN" altLang="en-US" dirty="0"/>
              <a:t>类别的循环</a:t>
            </a:r>
            <a:endParaRPr lang="en-US" altLang="zh-CN" dirty="0"/>
          </a:p>
          <a:p>
            <a:pPr lvl="1"/>
            <a:r>
              <a:rPr lang="zh-CN" altLang="en-US" dirty="0"/>
              <a:t>可能有问题的语句，就加上检查，例如只要有除法</a:t>
            </a:r>
            <a:r>
              <a:rPr lang="en-US" altLang="zh-CN" dirty="0"/>
              <a:t>b/a</a:t>
            </a:r>
            <a:r>
              <a:rPr lang="zh-CN" altLang="en-US" dirty="0"/>
              <a:t>就换成</a:t>
            </a:r>
            <a:r>
              <a:rPr lang="en-US" altLang="zh-CN" i="1" dirty="0"/>
              <a:t>if</a:t>
            </a:r>
            <a:r>
              <a:rPr lang="zh-CN" altLang="en-US" i="1" dirty="0"/>
              <a:t> </a:t>
            </a:r>
            <a:r>
              <a:rPr lang="en-US" altLang="zh-CN" i="1" dirty="0"/>
              <a:t>(a!=0)</a:t>
            </a:r>
            <a:r>
              <a:rPr lang="zh-CN" altLang="en-US" i="1" dirty="0"/>
              <a:t> </a:t>
            </a:r>
            <a:r>
              <a:rPr lang="en-US" altLang="zh-CN" dirty="0"/>
              <a:t>b/a;</a:t>
            </a:r>
          </a:p>
          <a:p>
            <a:r>
              <a:rPr lang="zh-CN" altLang="en-US" dirty="0"/>
              <a:t>我们已经做的：</a:t>
            </a:r>
            <a:endParaRPr lang="en-US" altLang="zh-CN" dirty="0"/>
          </a:p>
          <a:p>
            <a:pPr lvl="1"/>
            <a:r>
              <a:rPr lang="zh-CN" altLang="en-US" dirty="0"/>
              <a:t>边生成边执行</a:t>
            </a:r>
            <a:endParaRPr lang="en-US" altLang="zh-CN" dirty="0"/>
          </a:p>
          <a:p>
            <a:pPr lvl="1"/>
            <a:r>
              <a:rPr lang="zh-CN" altLang="en-US" dirty="0"/>
              <a:t>报告了</a:t>
            </a:r>
            <a:r>
              <a:rPr lang="en-US" altLang="zh-CN" dirty="0"/>
              <a:t>100+</a:t>
            </a:r>
            <a:r>
              <a:rPr lang="zh-CN" altLang="en-US" dirty="0"/>
              <a:t> </a:t>
            </a:r>
            <a:r>
              <a:rPr lang="en-US" altLang="zh-CN" dirty="0"/>
              <a:t>bug</a:t>
            </a:r>
          </a:p>
          <a:p>
            <a:r>
              <a:rPr lang="zh-CN" altLang="en-US" dirty="0"/>
              <a:t>我们想做的：</a:t>
            </a:r>
            <a:endParaRPr lang="en-US" altLang="zh-CN" dirty="0"/>
          </a:p>
          <a:p>
            <a:pPr lvl="1"/>
            <a:r>
              <a:rPr lang="zh-CN" altLang="en-US" dirty="0"/>
              <a:t>拓展到多线程</a:t>
            </a:r>
            <a:endParaRPr lang="en-US" altLang="zh-CN" dirty="0"/>
          </a:p>
          <a:p>
            <a:pPr lvl="1"/>
            <a:r>
              <a:rPr lang="zh-CN" altLang="en-US" dirty="0"/>
              <a:t>拓展到协程（</a:t>
            </a:r>
            <a:r>
              <a:rPr lang="en-US" altLang="zh-CN" dirty="0"/>
              <a:t>Coroutine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扩展到</a:t>
            </a:r>
            <a:r>
              <a:rPr lang="en-US" altLang="zh-CN" dirty="0"/>
              <a:t>ai compiler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43984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94C1D-AA9A-9687-213A-AF3B41DEA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C0B4-842C-FA2B-80AD-8F26C4B87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1887"/>
            <a:ext cx="10515600" cy="925222"/>
          </a:xfrm>
        </p:spPr>
        <p:txBody>
          <a:bodyPr/>
          <a:lstStyle/>
          <a:p>
            <a:r>
              <a:rPr lang="zh-CN" altLang="en-US" dirty="0"/>
              <a:t>浮点程序测试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3C198-F9BD-D8B6-83EC-E51D7FA99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195"/>
            <a:ext cx="5567185" cy="4733156"/>
          </a:xfrm>
        </p:spPr>
        <p:txBody>
          <a:bodyPr/>
          <a:lstStyle/>
          <a:p>
            <a:r>
              <a:rPr lang="en-CN" b="1" dirty="0"/>
              <a:t>含浮点数输入的程序</a:t>
            </a:r>
          </a:p>
          <a:p>
            <a:pPr lvl="1"/>
            <a:r>
              <a:rPr lang="en-CN" dirty="0"/>
              <a:t>广泛应用于数值库、科学仿真和控制软件。</a:t>
            </a:r>
          </a:p>
          <a:p>
            <a:r>
              <a:rPr lang="en-CN" b="1" dirty="0"/>
              <a:t>为什么软件测试很重要</a:t>
            </a:r>
          </a:p>
          <a:p>
            <a:pPr lvl="1"/>
            <a:r>
              <a:rPr lang="en-CN" dirty="0"/>
              <a:t>有助于揭示程序中意想不到的行为。</a:t>
            </a:r>
          </a:p>
          <a:p>
            <a:r>
              <a:rPr lang="en-CN" b="1" dirty="0"/>
              <a:t>分支覆盖率</a:t>
            </a:r>
          </a:p>
          <a:p>
            <a:pPr lvl="1"/>
            <a:r>
              <a:rPr lang="en-CN" dirty="0"/>
              <a:t>分支覆盖率衡量每个判定的真分支与假分支是否都被执行。</a:t>
            </a:r>
          </a:p>
          <a:p>
            <a:endParaRPr lang="en-CN" dirty="0"/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B8731155-7499-E7BA-DE9B-97C9EEE61A86}"/>
              </a:ext>
            </a:extLst>
          </p:cNvPr>
          <p:cNvSpPr txBox="1"/>
          <p:nvPr/>
        </p:nvSpPr>
        <p:spPr>
          <a:xfrm>
            <a:off x="6887701" y="1294986"/>
            <a:ext cx="3983783" cy="40370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zh-CN" sz="2000" b="1" dirty="0">
                <a:solidFill>
                  <a:srgbClr val="0070C0"/>
                </a:solidFill>
                <a:latin typeface="Calibri" pitchFamily="34" charset="0"/>
                <a:cs typeface="Calibri" pitchFamily="34" charset="-120"/>
              </a:rPr>
              <a:t>Code Example</a:t>
            </a:r>
            <a:endParaRPr lang="en-US" altLang="zh-CN" sz="2000" b="1" dirty="0">
              <a:solidFill>
                <a:schemeClr val="accent6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3500"/>
              </a:lnSpc>
            </a:pPr>
            <a:r>
              <a:rPr lang="en-US" altLang="zh-CN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double f(double x, double y) {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if (x &gt; 0.5) {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(y &lt; 1e-3)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1.0;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2.0;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0.0;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3616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CE69-B7A0-E38A-E6E6-8FB7AFCA8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C19C-54F2-343B-AB87-FCAEDA90C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1887"/>
            <a:ext cx="10515600" cy="925222"/>
          </a:xfrm>
        </p:spPr>
        <p:txBody>
          <a:bodyPr/>
          <a:lstStyle/>
          <a:p>
            <a:r>
              <a:rPr lang="zh-CN" altLang="en-US" dirty="0"/>
              <a:t>浮点程序测试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CF90C-2757-D9D1-03EB-483C04D33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195"/>
            <a:ext cx="10706100" cy="4733156"/>
          </a:xfrm>
        </p:spPr>
        <p:txBody>
          <a:bodyPr/>
          <a:lstStyle/>
          <a:p>
            <a:r>
              <a:rPr lang="zh-CN" altLang="en-US" b="1" dirty="0"/>
              <a:t>前人工作 </a:t>
            </a:r>
            <a:r>
              <a:rPr lang="en-US" altLang="zh-CN" b="1" dirty="0"/>
              <a:t>—— </a:t>
            </a:r>
            <a:r>
              <a:rPr lang="en-US" b="1" dirty="0" err="1"/>
              <a:t>CoverMe</a:t>
            </a:r>
            <a:endParaRPr lang="en-US" b="1" dirty="0"/>
          </a:p>
          <a:p>
            <a:pPr lvl="1"/>
            <a:r>
              <a:rPr lang="zh-CN" altLang="en-US" dirty="0"/>
              <a:t>把路径约束转换成最小值求解问题</a:t>
            </a:r>
            <a:endParaRPr lang="en-US" altLang="zh-CN" dirty="0"/>
          </a:p>
          <a:p>
            <a:pPr lvl="1"/>
            <a:r>
              <a:rPr lang="zh-CN" altLang="en-US" dirty="0"/>
              <a:t>通过数值优化（</a:t>
            </a:r>
            <a:r>
              <a:rPr lang="en-US" altLang="zh-CN" dirty="0"/>
              <a:t>MCMC</a:t>
            </a:r>
            <a:r>
              <a:rPr lang="zh-CN" altLang="en-US" dirty="0"/>
              <a:t>）算法找到最小值，从而覆盖不同的分支</a:t>
            </a:r>
          </a:p>
          <a:p>
            <a:pPr lvl="1"/>
            <a:r>
              <a:rPr lang="zh-CN" altLang="en-US" dirty="0"/>
              <a:t>局限性</a:t>
            </a:r>
          </a:p>
          <a:p>
            <a:pPr lvl="2"/>
            <a:r>
              <a:rPr lang="zh-CN" altLang="en-US" dirty="0"/>
              <a:t>局限一</a:t>
            </a:r>
            <a:r>
              <a:rPr lang="en-US" dirty="0"/>
              <a:t>：</a:t>
            </a:r>
            <a:r>
              <a:rPr lang="zh-CN" altLang="en-US" dirty="0"/>
              <a:t>每个随机输入都直接进入高成本的数值优化器，没有经过质量筛选。</a:t>
            </a:r>
          </a:p>
          <a:p>
            <a:pPr lvl="2"/>
            <a:r>
              <a:rPr lang="zh-CN" altLang="en-US" dirty="0"/>
              <a:t>局限二</a:t>
            </a:r>
            <a:r>
              <a:rPr lang="en-US" dirty="0"/>
              <a:t>：</a:t>
            </a:r>
            <a:r>
              <a:rPr lang="zh-CN" altLang="en-US" dirty="0"/>
              <a:t>一个目标函数只关注第一个不满足的约束，而不考虑前置约束。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306373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8150F-C7D8-4026-A5C0-6CFA7F991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E78C-528E-601F-75CB-132549F8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1887"/>
            <a:ext cx="10515600" cy="925222"/>
          </a:xfrm>
        </p:spPr>
        <p:txBody>
          <a:bodyPr/>
          <a:lstStyle/>
          <a:p>
            <a:r>
              <a:rPr lang="zh-CN" altLang="en-US" dirty="0"/>
              <a:t>浮点程序测试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8F3B5-7CBC-E7BB-EEED-6FC188EF9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195"/>
            <a:ext cx="10706100" cy="4733156"/>
          </a:xfrm>
        </p:spPr>
        <p:txBody>
          <a:bodyPr/>
          <a:lstStyle/>
          <a:p>
            <a:r>
              <a:rPr lang="en-CN" b="1" dirty="0"/>
              <a:t>高质量输入优先排序</a:t>
            </a:r>
            <a:endParaRPr lang="en-CN" dirty="0"/>
          </a:p>
          <a:p>
            <a:pPr lvl="1"/>
            <a:r>
              <a:rPr lang="en-CN" dirty="0"/>
              <a:t>评估所生成输入的质量，只有一小部分（高质量的）输入会进入高成本的数值优化器（求解阶段）。</a:t>
            </a:r>
          </a:p>
          <a:p>
            <a:r>
              <a:rPr lang="en-CN" b="1" dirty="0"/>
              <a:t>自适应资源分配</a:t>
            </a:r>
            <a:endParaRPr lang="en-CN" dirty="0"/>
          </a:p>
          <a:p>
            <a:pPr lvl="1"/>
            <a:r>
              <a:rPr lang="en-CN" dirty="0"/>
              <a:t>Manager（管理者）进程根据反馈，动态调整“输入生成”与“求解”两个阶段之间的计算资源分配。</a:t>
            </a:r>
          </a:p>
          <a:p>
            <a:r>
              <a:rPr lang="en-CN" b="1" dirty="0"/>
              <a:t>高效并行测试</a:t>
            </a:r>
            <a:endParaRPr lang="en-CN" dirty="0"/>
          </a:p>
          <a:p>
            <a:pPr lvl="1"/>
            <a:r>
              <a:rPr lang="en-CN" dirty="0"/>
              <a:t>Manager/Worker（管理者/工作者）架构</a:t>
            </a:r>
          </a:p>
          <a:p>
            <a:pPr lvl="1"/>
            <a:r>
              <a:rPr lang="en-CN" dirty="0"/>
              <a:t>轻量级协调</a:t>
            </a:r>
          </a:p>
          <a:p>
            <a:pPr marL="0" indent="0">
              <a:buNone/>
            </a:pPr>
            <a:br>
              <a:rPr lang="en-CN" dirty="0"/>
            </a:br>
            <a:endParaRPr lang="en-CN" dirty="0"/>
          </a:p>
        </p:txBody>
      </p:sp>
      <p:pic>
        <p:nvPicPr>
          <p:cNvPr id="4" name="图片 2">
            <a:extLst>
              <a:ext uri="{FF2B5EF4-FFF2-40B4-BE49-F238E27FC236}">
                <a16:creationId xmlns:a16="http://schemas.microsoft.com/office/drawing/2014/main" id="{C093BDB3-E968-A23F-EC20-9349C31E4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962" y="4673289"/>
            <a:ext cx="5927932" cy="205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8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D42DF-D0FF-0695-4825-9A4CFEA4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整数约束求解器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33BF7-4EBA-0D63-683C-0438177A1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大量程序状态以整数形式进行建模，如数组下标、循环计数器、内存偏移等</a:t>
            </a:r>
            <a:endParaRPr kumimoji="1" lang="en-US" altLang="zh-CN" dirty="0"/>
          </a:p>
          <a:p>
            <a:r>
              <a:rPr kumimoji="1" lang="zh-CN" altLang="en-US" dirty="0"/>
              <a:t>程序中的分支条件、循环条件、位运算结果以及整数算术关系也通常会形成复杂的整数约束</a:t>
            </a:r>
            <a:endParaRPr kumimoji="1" lang="en-US" altLang="zh-CN" dirty="0"/>
          </a:p>
          <a:p>
            <a:r>
              <a:rPr kumimoji="1" lang="zh-CN" altLang="en-US" dirty="0"/>
              <a:t>掌握整数约束求解器的基本原理与使用方法，有助于深入理解程序分析、形式化验证和自动化测试等领域中的关键技术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任务内容：</a:t>
            </a:r>
            <a:endParaRPr kumimoji="1" lang="en" altLang="zh-CN" dirty="0"/>
          </a:p>
          <a:p>
            <a:pPr lvl="1"/>
            <a:r>
              <a:rPr kumimoji="1" lang="zh-CN" altLang="en-US" dirty="0"/>
              <a:t>熟悉并使用在整数约束求解方面展现出强大性能的求解器包括</a:t>
            </a:r>
            <a:r>
              <a:rPr kumimoji="1" lang="en" altLang="zh-CN" dirty="0"/>
              <a:t>Z3-Z3++</a:t>
            </a:r>
            <a:r>
              <a:rPr kumimoji="1" lang="zh-CN" altLang="en-US" dirty="0"/>
              <a:t>、</a:t>
            </a:r>
            <a:r>
              <a:rPr kumimoji="1" lang="en" altLang="zh-CN" dirty="0"/>
              <a:t>Yices2</a:t>
            </a:r>
            <a:r>
              <a:rPr kumimoji="1" lang="zh-CN" altLang="en-US" dirty="0"/>
              <a:t>、</a:t>
            </a:r>
            <a:r>
              <a:rPr lang="en" altLang="zh-CN" dirty="0"/>
              <a:t>cvc5</a:t>
            </a:r>
            <a:r>
              <a:rPr lang="zh-CN" altLang="en" dirty="0"/>
              <a:t>等</a:t>
            </a:r>
            <a:endParaRPr lang="en" altLang="zh-CN" dirty="0"/>
          </a:p>
          <a:p>
            <a:pPr lvl="1"/>
            <a:r>
              <a:rPr kumimoji="1" lang="zh-CN" altLang="en-US" dirty="0"/>
              <a:t>利用</a:t>
            </a:r>
            <a:r>
              <a:rPr kumimoji="1" lang="en-US" altLang="zh-CN" dirty="0"/>
              <a:t>LLM</a:t>
            </a:r>
            <a:r>
              <a:rPr kumimoji="1" lang="zh-CN" altLang="en-US" dirty="0"/>
              <a:t>的能力加速约束求解过程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570CE-8C01-2547-AF9B-5CCB75D6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19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A225-0B15-F243-625E-EDCF28EE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AI Agent编译优化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33FCF-B71D-1284-4243-F30C3FBF8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dirty="0"/>
              <a:t>参考编译器的思想</a:t>
            </a:r>
            <a:r>
              <a:rPr lang="zh-CN" altLang="en-US" dirty="0"/>
              <a:t>，对</a:t>
            </a:r>
            <a:r>
              <a:rPr lang="en-US" altLang="zh-CN" dirty="0"/>
              <a:t>Agent</a:t>
            </a:r>
            <a:r>
              <a:rPr lang="zh-CN" altLang="en-US" dirty="0"/>
              <a:t>代码进行优化、转换</a:t>
            </a:r>
            <a:endParaRPr lang="en-US" altLang="zh-CN" dirty="0"/>
          </a:p>
          <a:p>
            <a:r>
              <a:rPr lang="en-CN" dirty="0"/>
              <a:t>提升执行速度</a:t>
            </a:r>
            <a:r>
              <a:rPr lang="zh-CN" altLang="en-US" dirty="0"/>
              <a:t>，降低</a:t>
            </a:r>
            <a:r>
              <a:rPr lang="en-US" altLang="zh-CN" dirty="0"/>
              <a:t>token</a:t>
            </a:r>
            <a:r>
              <a:rPr lang="zh-CN" altLang="en-US" dirty="0"/>
              <a:t>开销，甚至提升执行效果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CN" dirty="0"/>
              <a:t>已有</a:t>
            </a:r>
            <a:r>
              <a:rPr lang="zh-CN" altLang="en-US" dirty="0"/>
              <a:t>工作：</a:t>
            </a:r>
            <a:r>
              <a:rPr lang="en-US" altLang="zh-CN" dirty="0"/>
              <a:t>A1</a:t>
            </a:r>
            <a:r>
              <a:rPr lang="zh-CN" altLang="en-US" dirty="0"/>
              <a:t> </a:t>
            </a:r>
            <a:r>
              <a:rPr lang="en-US" altLang="zh-CN" dirty="0"/>
              <a:t>compiler</a:t>
            </a:r>
          </a:p>
          <a:p>
            <a:pPr lvl="1"/>
            <a:r>
              <a:rPr lang="zh-CN" altLang="en-US" dirty="0"/>
              <a:t>如何把一份 </a:t>
            </a:r>
            <a:r>
              <a:rPr lang="en-US" dirty="0"/>
              <a:t>Agent </a:t>
            </a:r>
            <a:r>
              <a:rPr lang="zh-CN" altLang="en-US" dirty="0"/>
              <a:t>的高层自然语言描述，</a:t>
            </a:r>
            <a:r>
              <a:rPr lang="en-US" altLang="zh-CN" dirty="0"/>
              <a:t>“</a:t>
            </a:r>
            <a:r>
              <a:rPr lang="zh-CN" altLang="en-US" dirty="0"/>
              <a:t>编译</a:t>
            </a:r>
            <a:r>
              <a:rPr lang="en-US" altLang="zh-CN" dirty="0"/>
              <a:t>”</a:t>
            </a:r>
            <a:r>
              <a:rPr lang="zh-CN" altLang="en-US" dirty="0"/>
              <a:t>成一段可执行的编排代码，在真正需要智能的地方保留模型调用，其余地方用普通代码替代？</a:t>
            </a:r>
            <a:endParaRPr lang="en-US" altLang="zh-CN" dirty="0"/>
          </a:p>
          <a:p>
            <a:r>
              <a:rPr lang="zh-CN" altLang="en-US" dirty="0"/>
              <a:t>传统做法的局限</a:t>
            </a:r>
          </a:p>
          <a:p>
            <a:pPr lvl="1"/>
            <a:r>
              <a:rPr lang="zh-CN" altLang="en-US" dirty="0"/>
              <a:t>逐步解释执行。 每个步骤都让模型实时决策，为每一步付出推理开销。</a:t>
            </a:r>
          </a:p>
          <a:p>
            <a:pPr lvl="1"/>
            <a:r>
              <a:rPr lang="zh-CN" altLang="en-US" dirty="0"/>
              <a:t>缺乏约束。 模型自由发挥，生成的行为不可预测，也难以施加结构化检查。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5208-5E83-E3A8-E98C-C6A0A946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B49F-ED9C-58A8-3A50-AD2A3F44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1653F05-0134-3AEC-EEA3-C8B994FD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</a:t>
            </a:r>
            <a:r>
              <a:rPr lang="zh-CN" altLang="en-US" dirty="0"/>
              <a:t>编译优化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DCC14-0063-BABE-81C0-AD42AA5A3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195"/>
            <a:ext cx="10515600" cy="4733156"/>
          </a:xfrm>
        </p:spPr>
        <p:txBody>
          <a:bodyPr>
            <a:normAutofit/>
          </a:bodyPr>
          <a:lstStyle/>
          <a:p>
            <a:r>
              <a:rPr lang="en-CN" dirty="0"/>
              <a:t>AI Agent编译优化</a:t>
            </a:r>
          </a:p>
          <a:p>
            <a:pPr lvl="1"/>
            <a:r>
              <a:rPr lang="en-CN" dirty="0"/>
              <a:t>代码生成代替逐步解释：</a:t>
            </a:r>
          </a:p>
          <a:p>
            <a:pPr lvl="2"/>
            <a:r>
              <a:rPr lang="en-CN" dirty="0"/>
              <a:t>让 LLM 一次性生成完整的 Python 编排程序——包含显式的工具调用、控制流和数据处理。</a:t>
            </a:r>
          </a:p>
          <a:p>
            <a:pPr lvl="2"/>
            <a:r>
              <a:rPr lang="en-CN" dirty="0"/>
              <a:t>模型本身作为一种"工具"保留在程序里，需要时调用即可。</a:t>
            </a:r>
          </a:p>
          <a:p>
            <a:pPr lvl="1"/>
            <a:r>
              <a:rPr lang="en-CN" dirty="0"/>
              <a:t>生成</a:t>
            </a:r>
            <a:r>
              <a:rPr lang="en-US" altLang="zh-CN" dirty="0"/>
              <a:t>-</a:t>
            </a:r>
            <a:r>
              <a:rPr lang="en-CN" dirty="0"/>
              <a:t>校验</a:t>
            </a:r>
            <a:r>
              <a:rPr lang="en-US" altLang="zh-CN" dirty="0"/>
              <a:t>-</a:t>
            </a:r>
            <a:r>
              <a:rPr lang="en-CN" dirty="0"/>
              <a:t>排序：</a:t>
            </a:r>
          </a:p>
          <a:p>
            <a:pPr lvl="2"/>
            <a:r>
              <a:rPr lang="en-CN" dirty="0"/>
              <a:t>并行生成多个候选程序，校验不合格的淘汰，合格的中按估算成本选最优。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BBD53-5433-8736-ED4F-D307A581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3944" y="6356352"/>
            <a:ext cx="409857" cy="365125"/>
          </a:xfrm>
        </p:spPr>
        <p:txBody>
          <a:bodyPr/>
          <a:lstStyle/>
          <a:p>
            <a:fld id="{5AC3D451-A5ED-4B51-9776-FF081A65E8D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17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1F98-B0DF-B733-BC6D-5A78142C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C27510-25D5-3D54-A886-675E8CDF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算子优化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A6BF7-49B8-4C1B-8024-20DD5CDC1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195"/>
            <a:ext cx="10515600" cy="4733156"/>
          </a:xfrm>
        </p:spPr>
        <p:txBody>
          <a:bodyPr>
            <a:normAutofit/>
          </a:bodyPr>
          <a:lstStyle/>
          <a:p>
            <a:r>
              <a:rPr lang="zh-CN" altLang="en-US" dirty="0"/>
              <a:t>算子评估数据集构建：</a:t>
            </a:r>
            <a:endParaRPr lang="en-US" altLang="zh-CN" dirty="0"/>
          </a:p>
          <a:p>
            <a:pPr lvl="1"/>
            <a:r>
              <a:rPr lang="zh-CN" altLang="en-US" dirty="0"/>
              <a:t>已有数据集只考虑性能和正确性</a:t>
            </a:r>
            <a:endParaRPr lang="en-US" altLang="zh-CN" dirty="0"/>
          </a:p>
          <a:p>
            <a:r>
              <a:rPr lang="en-CN" dirty="0"/>
              <a:t>AI编译器优化</a:t>
            </a:r>
            <a:r>
              <a:rPr lang="zh-CN" altLang="en-US" dirty="0"/>
              <a:t>：设计新的优化</a:t>
            </a:r>
            <a:r>
              <a:rPr lang="en-US" altLang="zh-CN" dirty="0"/>
              <a:t>pass</a:t>
            </a:r>
          </a:p>
          <a:p>
            <a:r>
              <a:rPr lang="en-US" dirty="0" err="1"/>
              <a:t>质量保障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已有方法只通过测试去保障</a:t>
            </a:r>
            <a:r>
              <a:rPr lang="en-US" altLang="zh-CN" dirty="0"/>
              <a:t>LLM</a:t>
            </a:r>
            <a:r>
              <a:rPr lang="zh-CN" altLang="en-US" dirty="0"/>
              <a:t>生成的算子的正确性</a:t>
            </a:r>
            <a:endParaRPr lang="en-US" altLang="zh-CN" dirty="0"/>
          </a:p>
          <a:p>
            <a:pPr lvl="1"/>
            <a:endParaRPr lang="en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E97B9-2915-332E-9A9E-E8F4EB80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3944" y="6356352"/>
            <a:ext cx="409857" cy="365125"/>
          </a:xfrm>
        </p:spPr>
        <p:txBody>
          <a:bodyPr/>
          <a:lstStyle/>
          <a:p>
            <a:fld id="{5AC3D451-A5ED-4B51-9776-FF081A65E8D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8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25C9-A758-764E-BCD9-986EF1AD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联系方式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0B8C-7D7F-A835-17F6-CC1B6392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邮箱： </a:t>
            </a:r>
            <a:r>
              <a:rPr lang="en-US" dirty="0" err="1"/>
              <a:t>yuwang_cs@nju.edu.cn</a:t>
            </a:r>
            <a:endParaRPr lang="en-US" dirty="0"/>
          </a:p>
          <a:p>
            <a:r>
              <a:rPr lang="zh-CN" altLang="en-US" dirty="0"/>
              <a:t>手机号： </a:t>
            </a:r>
            <a:r>
              <a:rPr lang="en-US" altLang="zh-CN" dirty="0"/>
              <a:t>18551415482</a:t>
            </a:r>
            <a:r>
              <a:rPr lang="zh-CN" altLang="en-US" dirty="0"/>
              <a:t>（微信同号） </a:t>
            </a:r>
            <a:endParaRPr lang="en-US" altLang="zh-CN" dirty="0"/>
          </a:p>
          <a:p>
            <a:r>
              <a:rPr lang="zh-CN" altLang="en-US" dirty="0"/>
              <a:t>个人主页： </a:t>
            </a:r>
            <a:r>
              <a:rPr lang="en-US" dirty="0" err="1"/>
              <a:t>itwoi.github.io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4414D-3EE3-5C76-F6AF-57336100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43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06436" y="2267046"/>
            <a:ext cx="6179127" cy="2323907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4800" dirty="0"/>
              <a:t>Thank you!</a:t>
            </a:r>
            <a:br>
              <a:rPr kumimoji="1" lang="en-US" altLang="zh-CN" sz="4800" dirty="0"/>
            </a:br>
            <a:r>
              <a:rPr kumimoji="1" lang="en-US" altLang="zh-CN" sz="4800" dirty="0"/>
              <a:t>Q&amp;A</a:t>
            </a:r>
            <a:endParaRPr kumimoji="1" lang="zh-CN" altLang="en-US" sz="4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D451-A5ED-4B51-9776-FF081A65E8D3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iragino">
      <a:majorFont>
        <a:latin typeface="CMU Sans Serif"/>
        <a:ea typeface="Hiragino Sans GB W3"/>
        <a:cs typeface=""/>
      </a:majorFont>
      <a:minorFont>
        <a:latin typeface="CMU Sans Serif"/>
        <a:ea typeface="Hiragino Sans GB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seg</Template>
  <TotalTime>9393</TotalTime>
  <Words>698</Words>
  <Application>Microsoft Macintosh PowerPoint</Application>
  <PresentationFormat>Widescreen</PresentationFormat>
  <Paragraphs>105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CMU Sans Serif</vt:lpstr>
      <vt:lpstr>DengXian</vt:lpstr>
      <vt:lpstr>DengXian</vt:lpstr>
      <vt:lpstr>Hiragino Sans GB W3</vt:lpstr>
      <vt:lpstr>KaiTi</vt:lpstr>
      <vt:lpstr>Arial</vt:lpstr>
      <vt:lpstr>Calibri</vt:lpstr>
      <vt:lpstr>Consolas</vt:lpstr>
      <vt:lpstr>Times New Roman</vt:lpstr>
      <vt:lpstr>seg</vt:lpstr>
      <vt:lpstr>SE/PL CFP</vt:lpstr>
      <vt:lpstr>编译器测试</vt:lpstr>
      <vt:lpstr>编译器测试</vt:lpstr>
      <vt:lpstr>浮点程序测试</vt:lpstr>
      <vt:lpstr>浮点程序测试</vt:lpstr>
      <vt:lpstr>浮点程序测试</vt:lpstr>
      <vt:lpstr>整数约束求解器</vt:lpstr>
      <vt:lpstr>AI Agent编译优化</vt:lpstr>
      <vt:lpstr>AI Agent编译优化</vt:lpstr>
      <vt:lpstr>算子优化</vt:lpstr>
      <vt:lpstr>联系方式</vt:lpstr>
      <vt:lpstr>Thank you!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Floating-Point Constraints with Continuous Optimization</dc:title>
  <dc:creator>ChenQian</dc:creator>
  <cp:lastModifiedBy>豫 王</cp:lastModifiedBy>
  <cp:revision>575</cp:revision>
  <cp:lastPrinted>2026-08-02T04:01:53Z</cp:lastPrinted>
  <dcterms:created xsi:type="dcterms:W3CDTF">2026-08-02T04:01:53Z</dcterms:created>
  <dcterms:modified xsi:type="dcterms:W3CDTF">2026-10-16T12:35:18Z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C4C870A7EBF17644EDBA6E6A0506EB60_42</vt:lpwstr>
  </property>
  <property fmtid="{D5CDD505-2E9C-101B-9397-08002B2CF9AE}" pid="3" name="KSOProductBuildVer">
    <vt:lpwstr>1033-12.1.26046.26046</vt:lpwstr>
  </property>
</Properties>
</file>